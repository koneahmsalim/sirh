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8D9E2"/>
                </a:solidFill>
                <a:latin typeface="Calibri"/>
              </a:rPr>
              <a:t>PROJET SIRH — ODOO HRMS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Démonstration du système RH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Infinity Africa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E8D9E2"/>
                </a:solidFill>
                <a:latin typeface="Calibri"/>
              </a:rPr>
              <a:t>Support de cadrage avant réunion de démonstration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Préparé pour la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31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Objectif de ce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333333"/>
                </a:solidFill>
                <a:latin typeface="Calibri"/>
              </a:rPr>
              <a:t>Ce support précède la réunion de démonstration afin que vous sachiez précisément à quoi vous attendre.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714B67"/>
                </a:solidFill>
                <a:latin typeface="Calibri"/>
              </a:rPr>
              <a:t>●  Le périmètre exact de la démo</a:t>
            </a:r>
            <a:r>
              <a:rPr sz="1700" b="0">
                <a:solidFill>
                  <a:srgbClr val="333333"/>
                </a:solidFill>
                <a:latin typeface="Calibri"/>
              </a:rPr>
              <a:t>  —  quels modules seront montrés en direct, sur quelles données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714B67"/>
                </a:solidFill>
                <a:latin typeface="Calibri"/>
              </a:rPr>
              <a:t>●  L'état d'avancement réel</a:t>
            </a:r>
            <a:r>
              <a:rPr sz="1700" b="0">
                <a:solidFill>
                  <a:srgbClr val="333333"/>
                </a:solidFill>
                <a:latin typeface="Calibri"/>
              </a:rPr>
              <a:t>  —  ce qui fonctionne, ce qui est en cours de configuration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714B67"/>
                </a:solidFill>
                <a:latin typeface="Calibri"/>
              </a:rPr>
              <a:t>●  Les limites connues</a:t>
            </a:r>
            <a:r>
              <a:rPr sz="1700" b="0">
                <a:solidFill>
                  <a:srgbClr val="333333"/>
                </a:solidFill>
                <a:latin typeface="Calibri"/>
              </a:rPr>
              <a:t>  —  pour éviter les questions surprises pendant la réunion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714B67"/>
                </a:solidFill>
                <a:latin typeface="Calibri"/>
              </a:rPr>
              <a:t>●  Les prochaines étapes proposées</a:t>
            </a:r>
            <a:r>
              <a:rPr sz="1700" b="0">
                <a:solidFill>
                  <a:srgbClr val="333333"/>
                </a:solidFill>
                <a:latin typeface="Calibri"/>
              </a:rPr>
              <a:t>  —  pour cadrer la discussion après la démo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Projet SIRH — Odoo HRMS — Infinity Africa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Pourquoi Odoo HRMS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700" b="1">
                <a:solidFill>
                  <a:srgbClr val="714B67"/>
                </a:solidFill>
                <a:latin typeface="Calibri"/>
              </a:rPr>
              <a:t>●  Centraliser la fonction RH</a:t>
            </a:r>
            <a:r>
              <a:rPr sz="1700" b="0">
                <a:solidFill>
                  <a:srgbClr val="333333"/>
                </a:solidFill>
                <a:latin typeface="Calibri"/>
              </a:rPr>
              <a:t>  —  employés, présences, congés, paie, recrutement, évaluations dans un seul outil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700" b="1">
                <a:solidFill>
                  <a:srgbClr val="714B67"/>
                </a:solidFill>
                <a:latin typeface="Calibri"/>
              </a:rPr>
              <a:t>●  Réduire les fichiers Excel et le travail manuel dispersé</a:t>
            </a:r>
            <a:r>
              <a:rPr sz="1700" b="0">
                <a:solidFill>
                  <a:srgbClr val="333333"/>
                </a:solidFill>
                <a:latin typeface="Calibri"/>
              </a:rPr>
              <a:t>  —  un point d'entrée unique pour les managers et les collaborateurs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700" b="1">
                <a:solidFill>
                  <a:srgbClr val="714B67"/>
                </a:solidFill>
                <a:latin typeface="Calibri"/>
              </a:rPr>
              <a:t>●  Base open-source éprouvée (Odoo 18)</a:t>
            </a:r>
            <a:r>
              <a:rPr sz="1700" b="0">
                <a:solidFill>
                  <a:srgbClr val="333333"/>
                </a:solidFill>
                <a:latin typeface="Calibri"/>
              </a:rPr>
              <a:t>  —  suite HRMS communautaire complète, personnalisable selon nos besoins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700" b="1">
                <a:solidFill>
                  <a:srgbClr val="714B67"/>
                </a:solidFill>
                <a:latin typeface="Calibri"/>
              </a:rPr>
              <a:t>●  Environnement de test actuellement en local</a:t>
            </a:r>
            <a:r>
              <a:rPr sz="1700" b="0">
                <a:solidFill>
                  <a:srgbClr val="333333"/>
                </a:solidFill>
                <a:latin typeface="Calibri"/>
              </a:rPr>
              <a:t>  —  installation Docker dédiée, données de démonstration — aucune donnée réelle sensible à ce stade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Projet SIRH — Odoo HRMS — Infinity Africa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ENVIRONNEMENT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Ce sur quoi tourne la démo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06040" cy="2194560"/>
          </a:xfrm>
          <a:prstGeom prst="roundRect">
            <a:avLst/>
          </a:prstGeom>
          <a:solidFill>
            <a:srgbClr val="F3ECF0"/>
          </a:solidFill>
          <a:ln w="9525">
            <a:solidFill>
              <a:srgbClr val="714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77800" rIns="127000" rtlCol="0" anchor="ctr"/>
          <a:lstStyle/>
          <a:p>
            <a:pPr algn="ctr"/>
            <a:r>
              <a:rPr sz="1700" b="1">
                <a:solidFill>
                  <a:srgbClr val="4A3043"/>
                </a:solidFill>
              </a:rPr>
              <a:t>Odoo 18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333333"/>
                </a:solidFill>
              </a:rPr>
              <a:t>Moteur applicatif HRMS + modules RH communautaires (OpenHRMS)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37360"/>
            <a:ext cx="2606040" cy="2194560"/>
          </a:xfrm>
          <a:prstGeom prst="roundRect">
            <a:avLst/>
          </a:prstGeom>
          <a:solidFill>
            <a:srgbClr val="F3ECF0"/>
          </a:solidFill>
          <a:ln w="9525">
            <a:solidFill>
              <a:srgbClr val="714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77800" rIns="127000" rtlCol="0" anchor="ctr"/>
          <a:lstStyle/>
          <a:p>
            <a:pPr algn="ctr"/>
            <a:r>
              <a:rPr sz="1700" b="1">
                <a:solidFill>
                  <a:srgbClr val="4A3043"/>
                </a:solidFill>
              </a:rPr>
              <a:t>PostgreSQL 16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333333"/>
                </a:solidFill>
              </a:rPr>
              <a:t>Base de données, conteneur dédié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2606040" cy="2194560"/>
          </a:xfrm>
          <a:prstGeom prst="roundRect">
            <a:avLst/>
          </a:prstGeom>
          <a:solidFill>
            <a:srgbClr val="F3ECF0"/>
          </a:solidFill>
          <a:ln w="9525">
            <a:solidFill>
              <a:srgbClr val="714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77800" rIns="127000" rtlCol="0" anchor="ctr"/>
          <a:lstStyle/>
          <a:p>
            <a:pPr algn="ctr"/>
            <a:r>
              <a:rPr sz="1700" b="1">
                <a:solidFill>
                  <a:srgbClr val="4A3043"/>
                </a:solidFill>
              </a:rPr>
              <a:t>Docker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333333"/>
                </a:solidFill>
              </a:rPr>
              <a:t>Environnement local, isolé, reproductible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737360"/>
            <a:ext cx="2606040" cy="2194560"/>
          </a:xfrm>
          <a:prstGeom prst="roundRect">
            <a:avLst/>
          </a:prstGeom>
          <a:solidFill>
            <a:srgbClr val="F3ECF0"/>
          </a:solidFill>
          <a:ln w="9525">
            <a:solidFill>
              <a:srgbClr val="714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77800" rIns="127000" rtlCol="0" anchor="ctr"/>
          <a:lstStyle/>
          <a:p>
            <a:pPr algn="ctr"/>
            <a:r>
              <a:rPr sz="1700" b="1">
                <a:solidFill>
                  <a:srgbClr val="4A3043"/>
                </a:solidFill>
              </a:rPr>
              <a:t>Base « SIRH »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333333"/>
                </a:solidFill>
              </a:rPr>
              <a:t>Jeu de données de démonstration — société "African Infinity Group"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97680"/>
            <a:ext cx="10881360" cy="1371600"/>
          </a:xfrm>
          <a:prstGeom prst="roundRect">
            <a:avLst/>
          </a:prstGeom>
          <a:solidFill>
            <a:srgbClr val="FCF3E7"/>
          </a:solidFill>
          <a:ln w="12700">
            <a:solidFill>
              <a:srgbClr val="E78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27000" rIns="203200" rtlCol="0" anchor="ctr"/>
          <a:lstStyle/>
          <a:p>
            <a:pPr algn="ctr"/>
            <a:r>
              <a:rPr sz="1400" b="1">
                <a:solidFill>
                  <a:srgbClr val="8A551A"/>
                </a:solidFill>
              </a:rPr>
              <a:t>⚠ À retenir : </a:t>
            </a:r>
            <a:r>
              <a:rPr sz="1400">
                <a:solidFill>
                  <a:srgbClr val="5C3D14"/>
                </a:solidFill>
              </a:rPr>
              <a:t>l'environnement de démo est local, non connecté à Internet ni à un serveur de production. Les captures de ce document et la démo elle-même utilisent des données fictives/test.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Projet SIRH — Odoo HRMS — Infinity Africa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PÉRIMÈTRE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Modules installés dans la suite HRMS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743200" cy="50292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Cœur RH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76200" rtlCol="0" anchor="t"/>
          <a:lstStyle/>
          <a:p>
            <a:pPr algn="ctr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Employés &amp; départements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Multi-société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Tableau de bord RH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508760"/>
            <a:ext cx="2743200" cy="50292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Temps &amp; présence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201168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76200" rtlCol="0" anchor="t"/>
          <a:lstStyle/>
          <a:p>
            <a:pPr algn="ctr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Présences (badge)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Feuilles de temps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Congés &amp; absences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64224" y="1508760"/>
            <a:ext cx="2743200" cy="502920"/>
          </a:xfrm>
          <a:prstGeom prst="rect">
            <a:avLst/>
          </a:prstGeom>
          <a:solidFill>
            <a:srgbClr val="3C8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Cycle de vie employé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201168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76200" rtlCol="0" anchor="t"/>
          <a:lstStyle/>
          <a:p>
            <a:pPr algn="ctr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Recrutement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Évaluations (Appraisal)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Mutation &amp; démission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72016" y="1508760"/>
            <a:ext cx="2743200" cy="502920"/>
          </a:xfrm>
          <a:prstGeom prst="rect">
            <a:avLst/>
          </a:prstGeom>
          <a:solidFill>
            <a:srgbClr val="3E6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Paie &amp; finance RH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72016" y="201168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76200" rtlCol="0" anchor="t"/>
          <a:lstStyle/>
          <a:p>
            <a:pPr algn="ctr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Paie (Payroll)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Prêts &amp; avances employés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Assurance &amp; rappels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1088136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 dirty="0">
                <a:solidFill>
                  <a:srgbClr val="6B6B6B"/>
                </a:solidFill>
                <a:latin typeface="Calibri"/>
              </a:rPr>
              <a:t>17 modules RH </a:t>
            </a:r>
            <a:r>
              <a:rPr sz="1350" b="0" i="1" dirty="0" err="1">
                <a:solidFill>
                  <a:srgbClr val="6B6B6B"/>
                </a:solidFill>
                <a:latin typeface="Calibri"/>
              </a:rPr>
              <a:t>installés</a:t>
            </a:r>
            <a:r>
              <a:rPr sz="1350" b="0" i="1" dirty="0">
                <a:solidFill>
                  <a:srgbClr val="6B6B6B"/>
                </a:solidFill>
                <a:latin typeface="Calibri"/>
              </a:rPr>
              <a:t> au total, </a:t>
            </a:r>
            <a:r>
              <a:rPr sz="1350" b="0" i="1" dirty="0" err="1">
                <a:solidFill>
                  <a:srgbClr val="6B6B6B"/>
                </a:solidFill>
                <a:latin typeface="Calibri"/>
              </a:rPr>
              <a:t>basés</a:t>
            </a:r>
            <a:r>
              <a:rPr sz="1350" b="0" i="1" dirty="0">
                <a:solidFill>
                  <a:srgbClr val="6B6B6B"/>
                </a:solidFill>
                <a:latin typeface="Calibri"/>
              </a:rPr>
              <a:t> sur la suite </a:t>
            </a:r>
            <a:r>
              <a:rPr sz="1350" b="0" i="1" dirty="0" err="1">
                <a:solidFill>
                  <a:srgbClr val="6B6B6B"/>
                </a:solidFill>
                <a:latin typeface="Calibri"/>
              </a:rPr>
              <a:t>communautaire</a:t>
            </a:r>
            <a:r>
              <a:rPr sz="1350" b="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6B6B"/>
                </a:solidFill>
                <a:latin typeface="Calibri"/>
              </a:rPr>
              <a:t>OpenHRMS</a:t>
            </a:r>
            <a:r>
              <a:rPr sz="1350" b="0" i="1" dirty="0">
                <a:solidFill>
                  <a:srgbClr val="6B6B6B"/>
                </a:solidFill>
                <a:latin typeface="Calibri"/>
              </a:rPr>
              <a:t> pour Odoo 18. </a:t>
            </a:r>
            <a:r>
              <a:rPr sz="1350" b="0" i="1" dirty="0" err="1">
                <a:solidFill>
                  <a:srgbClr val="6B6B6B"/>
                </a:solidFill>
                <a:latin typeface="Calibri"/>
              </a:rPr>
              <a:t>Tous</a:t>
            </a:r>
            <a:r>
              <a:rPr sz="1350" b="0" i="1" dirty="0">
                <a:solidFill>
                  <a:srgbClr val="6B6B6B"/>
                </a:solidFill>
                <a:latin typeface="Calibri"/>
              </a:rPr>
              <a:t> ne </a:t>
            </a:r>
            <a:r>
              <a:rPr sz="1350" b="0" i="1" dirty="0" err="1">
                <a:solidFill>
                  <a:srgbClr val="6B6B6B"/>
                </a:solidFill>
                <a:latin typeface="Calibri"/>
              </a:rPr>
              <a:t>sont</a:t>
            </a:r>
            <a:r>
              <a:rPr sz="1350" b="0" i="1" dirty="0">
                <a:solidFill>
                  <a:srgbClr val="6B6B6B"/>
                </a:solidFill>
                <a:latin typeface="Calibri"/>
              </a:rPr>
              <a:t> pas encore </a:t>
            </a:r>
            <a:r>
              <a:rPr sz="1350" b="0" i="1" dirty="0" err="1">
                <a:solidFill>
                  <a:srgbClr val="6B6B6B"/>
                </a:solidFill>
                <a:latin typeface="Calibri"/>
              </a:rPr>
              <a:t>alimentés</a:t>
            </a:r>
            <a:r>
              <a:rPr sz="1350" b="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6B6B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6B6B"/>
                </a:solidFill>
                <a:latin typeface="Calibri"/>
              </a:rPr>
              <a:t>données</a:t>
            </a:r>
            <a:endParaRPr sz="135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DÉROULÉ PRÉVU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Ce qui sera montré en direct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14B67"/>
                </a:solidFill>
                <a:latin typeface="Calibri"/>
              </a:rPr>
              <a:t>●  1. Tableau de bord employé</a:t>
            </a:r>
            <a:r>
              <a:rPr sz="1550" b="0">
                <a:solidFill>
                  <a:srgbClr val="333333"/>
                </a:solidFill>
                <a:latin typeface="Calibri"/>
              </a:rPr>
              <a:t>  —  Vue personnelle : bulletins, feuilles de temps, congés, présence, notes de frais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14B67"/>
                </a:solidFill>
                <a:latin typeface="Calibri"/>
              </a:rPr>
              <a:t>●  2. Répertoire des employés</a:t>
            </a:r>
            <a:r>
              <a:rPr sz="1550" b="0">
                <a:solidFill>
                  <a:srgbClr val="333333"/>
                </a:solidFill>
                <a:latin typeface="Calibri"/>
              </a:rPr>
              <a:t>  —  Fiches employés, départements, société — organisation actuelle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14B67"/>
                </a:solidFill>
                <a:latin typeface="Calibri"/>
              </a:rPr>
              <a:t>●  3. Gestion des congés</a:t>
            </a:r>
            <a:r>
              <a:rPr sz="1550" b="0">
                <a:solidFill>
                  <a:srgbClr val="333333"/>
                </a:solidFill>
                <a:latin typeface="Calibri"/>
              </a:rPr>
              <a:t>  —  Demande, approbation, soldes de congés en temps réel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14B67"/>
                </a:solidFill>
                <a:latin typeface="Calibri"/>
              </a:rPr>
              <a:t>●  4. Recrutement</a:t>
            </a:r>
            <a:r>
              <a:rPr sz="1550" b="0">
                <a:solidFill>
                  <a:srgbClr val="333333"/>
                </a:solidFill>
                <a:latin typeface="Calibri"/>
              </a:rPr>
              <a:t>  —  Suivi des postes ouverts et des candidatures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14B67"/>
                </a:solidFill>
                <a:latin typeface="Calibri"/>
              </a:rPr>
              <a:t>●  5. Évaluations (Appraisal)</a:t>
            </a:r>
            <a:r>
              <a:rPr sz="1550" b="0">
                <a:solidFill>
                  <a:srgbClr val="333333"/>
                </a:solidFill>
                <a:latin typeface="Calibri"/>
              </a:rPr>
              <a:t>  —  Cycle d'évaluation des employés par étapes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14B67"/>
                </a:solidFill>
                <a:latin typeface="Calibri"/>
              </a:rPr>
              <a:t>●  6. Présences &amp; feuilles de temps</a:t>
            </a:r>
            <a:r>
              <a:rPr sz="1550" b="0">
                <a:solidFill>
                  <a:srgbClr val="333333"/>
                </a:solidFill>
                <a:latin typeface="Calibri"/>
              </a:rPr>
              <a:t>  —  Suivi du temps de travail et des heures supplémentaires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14B67"/>
                </a:solidFill>
                <a:latin typeface="Calibri"/>
              </a:rPr>
              <a:t>●  7. Tableau de bord managérial</a:t>
            </a:r>
            <a:r>
              <a:rPr sz="1550" b="0">
                <a:solidFill>
                  <a:srgbClr val="333333"/>
                </a:solidFill>
                <a:latin typeface="Calibri"/>
              </a:rPr>
              <a:t>  —  Indicateurs consolidés (facturation, activité) pour la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CAPTURE D'ÉCRAN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Tableau de bord employé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463040" cy="292608"/>
          </a:xfrm>
          <a:prstGeom prst="round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DONNÉES DE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540" y="1790700"/>
            <a:ext cx="7848600" cy="4448175"/>
          </a:xfrm>
          <a:prstGeom prst="rect">
            <a:avLst/>
          </a:prstGeom>
          <a:solidFill>
            <a:srgbClr val="FFFFFF"/>
          </a:solidFill>
          <a:ln w="15875">
            <a:solidFill>
              <a:srgbClr val="DD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_after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772400" cy="4371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32520" y="1828800"/>
            <a:ext cx="3001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14B67"/>
                </a:solidFill>
                <a:latin typeface="Calibri"/>
              </a:rPr>
              <a:t>À retenir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30019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Vue personnalisée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chaque collaborateur voit ses propres bulletins, congés, présences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Actions rapides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check-in, demande de congé, note de frais en un clic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Statuts en direct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congés « à approuver » visibles immédiatement pour le manager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Photo/profil fictifs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utilisés uniquement pour la démo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Projet SIRH — Odoo HRMS — Infinity Africa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CAPTURE D'ÉCRAN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Répertoire des employés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463040" cy="292608"/>
          </a:xfrm>
          <a:prstGeom prst="round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24 FICHES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540" y="1790700"/>
            <a:ext cx="7848600" cy="4448175"/>
          </a:xfrm>
          <a:prstGeom prst="rect">
            <a:avLst/>
          </a:prstGeom>
          <a:solidFill>
            <a:srgbClr val="FFFFFF"/>
          </a:solidFill>
          <a:ln w="15875">
            <a:solidFill>
              <a:srgbClr val="DD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0_emplo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772400" cy="4371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32520" y="1828800"/>
            <a:ext cx="3001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14B67"/>
                </a:solidFill>
                <a:latin typeface="Calibri"/>
              </a:rPr>
              <a:t>À retenir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30019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Vue kanban ou liste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photo, poste, coordonnées, tags (équipe, statut)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Filtrage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par société et par département dans le panneau de gauche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Onglets avancés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documents, assurance, prêts &amp; avances accessibles depuis ce module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Données actuelles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profils fictifs à remplacer par les vrais effectifs avant mise en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CAPTURE D'ÉCRAN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Gestion des congés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463040" cy="292608"/>
          </a:xfrm>
          <a:prstGeom prst="roundRect">
            <a:avLst/>
          </a:prstGeom>
          <a:solidFill>
            <a:srgbClr val="3C8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FLUX FONCTIONNEL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540" y="1790700"/>
            <a:ext cx="7848600" cy="4448175"/>
          </a:xfrm>
          <a:prstGeom prst="rect">
            <a:avLst/>
          </a:prstGeom>
          <a:solidFill>
            <a:srgbClr val="FFFFFF"/>
          </a:solidFill>
          <a:ln w="15875">
            <a:solidFill>
              <a:srgbClr val="DD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1_co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772400" cy="4371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32520" y="1828800"/>
            <a:ext cx="3001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14B67"/>
                </a:solidFill>
                <a:latin typeface="Calibri"/>
              </a:rPr>
              <a:t>À retenir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30019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Vue calendrier annuelle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congés payés, congé maladie, jours de compensation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Compteurs en temps réel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soldes disponibles affichés en haut de l'écran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Circuit d'approbation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statuts « à approuver / validé / refusé » avec légende couleur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Jours fériés &amp; obligatoires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configurables par société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CAPTURE D'ÉCRAN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Recrutement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463040" cy="292608"/>
          </a:xfrm>
          <a:prstGeom prst="round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DONNÉES DE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540" y="1790700"/>
            <a:ext cx="7848600" cy="4448175"/>
          </a:xfrm>
          <a:prstGeom prst="rect">
            <a:avLst/>
          </a:prstGeom>
          <a:solidFill>
            <a:srgbClr val="FFFFFF"/>
          </a:solidFill>
          <a:ln w="15875">
            <a:solidFill>
              <a:srgbClr val="DD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4_recru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772400" cy="4371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32520" y="1828800"/>
            <a:ext cx="3001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14B67"/>
                </a:solidFill>
                <a:latin typeface="Calibri"/>
              </a:rPr>
              <a:t>À retenir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30019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Suivi des postes ouverts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nombre de candidatures et de postes à pourvoir par offre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Publication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bascule Publié / Non publié vers la page carrière du site web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Filtrage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par société et département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Étape suivante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pipeline détaillé par candidat (entretiens, évaluation) à démontrer en clic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CAPTURE D'ÉCRAN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Évaluations (Appraisal)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463040" cy="292608"/>
          </a:xfrm>
          <a:prstGeom prst="round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DONNÉES DE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540" y="1790700"/>
            <a:ext cx="7848600" cy="4448175"/>
          </a:xfrm>
          <a:prstGeom prst="rect">
            <a:avLst/>
          </a:prstGeom>
          <a:solidFill>
            <a:srgbClr val="FFFFFF"/>
          </a:solidFill>
          <a:ln w="15875">
            <a:solidFill>
              <a:srgbClr val="DD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5_apprai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772400" cy="4371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32520" y="1828800"/>
            <a:ext cx="3001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14B67"/>
                </a:solidFill>
                <a:latin typeface="Calibri"/>
              </a:rPr>
              <a:t>À retenir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30019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Vue kanban par étape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à démarrer, envoyé, terminé, annulé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Échéances visibles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deadline par évaluation, questions envoyées / réponses reçues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Lié à la fiche employé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historique d'évaluation consultable depuis le profil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Usage prévu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cycle d'évaluation annuel ou semestriel selon la politique RH retenue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CAPTURE D'ÉCRAN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Présences &amp; feuilles de temps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463040" cy="292608"/>
          </a:xfrm>
          <a:prstGeom prst="roundRect">
            <a:avLst/>
          </a:prstGeom>
          <a:solidFill>
            <a:srgbClr val="3C8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FLUX FONCTIONNEL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540" y="1790700"/>
            <a:ext cx="5334000" cy="3033712"/>
          </a:xfrm>
          <a:prstGeom prst="rect">
            <a:avLst/>
          </a:prstGeom>
          <a:solidFill>
            <a:srgbClr val="FFFFFF"/>
          </a:solidFill>
          <a:ln w="15875">
            <a:solidFill>
              <a:srgbClr val="DD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3_pres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257800" cy="29575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42660" y="1790700"/>
            <a:ext cx="5334000" cy="3033712"/>
          </a:xfrm>
          <a:prstGeom prst="rect">
            <a:avLst/>
          </a:prstGeom>
          <a:solidFill>
            <a:srgbClr val="FFFFFF"/>
          </a:solidFill>
          <a:ln w="15875">
            <a:solidFill>
              <a:srgbClr val="DD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9_feuilles_tem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828800"/>
            <a:ext cx="5257800" cy="2957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87775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714B67"/>
                </a:solidFill>
                <a:latin typeface="Calibri"/>
              </a:rPr>
              <a:t>Présences (badge/check-in)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487775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714B67"/>
                </a:solidFill>
                <a:latin typeface="Calibri"/>
              </a:rPr>
              <a:t>Feuilles de temps par 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714B67"/>
                </a:solidFill>
                <a:latin typeface="Calibri"/>
              </a:rPr>
              <a:t>●  Deux logiques complémentaires</a:t>
            </a:r>
            <a:r>
              <a:rPr sz="1350" b="0">
                <a:solidFill>
                  <a:srgbClr val="333333"/>
                </a:solidFill>
                <a:latin typeface="Calibri"/>
              </a:rPr>
              <a:t>  —  badge d'arrivée/départ d'un côté, imputation de temps par projet/tâche de l'autre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714B67"/>
                </a:solidFill>
                <a:latin typeface="Calibri"/>
              </a:rPr>
              <a:t>●  Utile pour le pilotage</a:t>
            </a:r>
            <a:r>
              <a:rPr sz="1350" b="0">
                <a:solidFill>
                  <a:srgbClr val="333333"/>
                </a:solidFill>
                <a:latin typeface="Calibri"/>
              </a:rPr>
              <a:t>  —  heures travaillées, heures supplémentaires, charge par projet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CAPTURE D'ÉCRAN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Tableau de bord managérial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463040" cy="292608"/>
          </a:xfrm>
          <a:prstGeom prst="roundRect">
            <a:avLst/>
          </a:prstGeom>
          <a:solidFill>
            <a:srgbClr val="3E6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DONNÉES DE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540" y="1790700"/>
            <a:ext cx="7848600" cy="4448175"/>
          </a:xfrm>
          <a:prstGeom prst="rect">
            <a:avLst/>
          </a:prstGeom>
          <a:solidFill>
            <a:srgbClr val="FFFFFF"/>
          </a:solidFill>
          <a:ln w="15875">
            <a:solidFill>
              <a:srgbClr val="DD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7_tableaux_b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772400" cy="4371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32520" y="1828800"/>
            <a:ext cx="3001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14B67"/>
                </a:solidFill>
                <a:latin typeface="Calibri"/>
              </a:rPr>
              <a:t>À retenir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30019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Vue consolidée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indicateurs finance, logistique et projets sur un seul écran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Personnalisable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des tableaux RH dédiés (effectifs, turnover, absentéisme) peuvent être ajoutés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Public cible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direction et managers pour un pilotage rapide, sans reporting manuel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714B67"/>
                </a:solidFill>
                <a:latin typeface="Calibri"/>
              </a:rPr>
              <a:t>●  À construire</a:t>
            </a:r>
            <a:r>
              <a:rPr sz="1300" b="0">
                <a:solidFill>
                  <a:srgbClr val="333333"/>
                </a:solidFill>
                <a:latin typeface="Calibri"/>
              </a:rPr>
              <a:t>  —  les KPI RH spécifiques restent à définir avec vous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TRANSPARENCE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État d'avancement — ce qui est prêt vs. en cours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257800" cy="4480560"/>
          </a:xfrm>
          <a:prstGeom prst="roundRect">
            <a:avLst/>
          </a:prstGeom>
          <a:solidFill>
            <a:srgbClr val="ECF6EF"/>
          </a:solidFill>
          <a:ln w="12700">
            <a:solidFill>
              <a:srgbClr val="3C8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177800" rtlCol="0" anchor="t"/>
          <a:lstStyle/>
          <a:p>
            <a:pPr algn="l"/>
            <a:r>
              <a:rPr sz="1600" b="1">
                <a:solidFill>
                  <a:srgbClr val="3C8D5F"/>
                </a:solidFill>
              </a:rPr>
              <a:t>✓ Prêt pour la démo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C5A40"/>
                </a:solidFill>
              </a:rPr>
              <a:t>•  Employés &amp; départements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C5A40"/>
                </a:solidFill>
              </a:rPr>
              <a:t>•  Congés &amp; absences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C5A40"/>
                </a:solidFill>
              </a:rPr>
              <a:t>•  Recrutement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C5A40"/>
                </a:solidFill>
              </a:rPr>
              <a:t>•  Évaluations (Appraisal)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C5A40"/>
                </a:solidFill>
              </a:rPr>
              <a:t>•  Présences &amp; feuilles de temps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C5A40"/>
                </a:solidFill>
              </a:rPr>
              <a:t>•  Tableau de bord général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4480560"/>
          </a:xfrm>
          <a:prstGeom prst="roundRect">
            <a:avLst/>
          </a:prstGeom>
          <a:solidFill>
            <a:srgbClr val="FCF1E6"/>
          </a:solidFill>
          <a:ln w="12700">
            <a:solidFill>
              <a:srgbClr val="E78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177800" rtlCol="0" anchor="t"/>
          <a:lstStyle/>
          <a:p>
            <a:pPr algn="l"/>
            <a:r>
              <a:rPr sz="1600" b="1">
                <a:solidFill>
                  <a:srgbClr val="8A551A"/>
                </a:solidFill>
              </a:rPr>
              <a:t>○ Installés mais pas encore alimentés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6B4214"/>
                </a:solidFill>
              </a:rPr>
              <a:t>•  Paie (Payroll) — structures salariales à configurer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6B4214"/>
                </a:solidFill>
              </a:rPr>
              <a:t>•  Mutation employé (Transfers) — aucune donnée test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6B4214"/>
                </a:solidFill>
              </a:rPr>
              <a:t>•  Démission (Resignation) — aucune donnée test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6B4214"/>
                </a:solidFill>
              </a:rPr>
              <a:t>•  Prêts &amp; avances employés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6B4214"/>
                </a:solidFill>
              </a:rPr>
              <a:t>•  Assurance &amp; rappels automatiques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TRANSPARENCE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Limites connues de l'environnement actuel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424160" cy="2501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dirty="0">
                <a:solidFill>
                  <a:srgbClr val="714B67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Environnement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 local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uniquement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 —  pas encore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d'hébergement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serveur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/cloud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ni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d'accès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distant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sécurisé</a:t>
            </a:r>
            <a:endParaRPr sz="1550" b="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dirty="0">
                <a:solidFill>
                  <a:srgbClr val="714B67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Données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 100%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fictives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 — 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aucun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employé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salaire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ou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document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réel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n'est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chargé à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ce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stade</a:t>
            </a:r>
            <a:endParaRPr sz="1550" b="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dirty="0">
                <a:solidFill>
                  <a:srgbClr val="714B67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Paie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 non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configurée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 — 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règles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calcul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cotisations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et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barèmes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locaux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restent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à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paramétrer</a:t>
            </a:r>
            <a:endParaRPr sz="1550" b="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dirty="0">
                <a:solidFill>
                  <a:srgbClr val="714B67"/>
                </a:solidFill>
                <a:latin typeface="Calibri"/>
              </a:rPr>
              <a:t>●  Pas encore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d'intégration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 — 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aucune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connexion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avec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d'autres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outils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existants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(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comptabilité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badgeuse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, etc.) à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ce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stade</a:t>
            </a:r>
            <a:r>
              <a:rPr lang="fr-FR" sz="1550" b="0" dirty="0">
                <a:solidFill>
                  <a:srgbClr val="333333"/>
                </a:solidFill>
                <a:latin typeface="Calibri"/>
              </a:rPr>
              <a:t> mais tout a fais possible.</a:t>
            </a:r>
            <a:endParaRPr sz="1550" b="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dirty="0">
                <a:solidFill>
                  <a:srgbClr val="714B67"/>
                </a:solidFill>
                <a:latin typeface="Calibri"/>
              </a:rPr>
              <a:t>●  Droits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d'accès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 à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définir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 — 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rôles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et permissions par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profil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(RH, manager,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employé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) à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valider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avec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vous</a:t>
            </a:r>
            <a:endParaRPr sz="155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14B67"/>
                </a:solidFill>
                <a:latin typeface="Calibri"/>
              </a:rPr>
              <a:t>SUITE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3043"/>
                </a:solidFill>
                <a:latin typeface="Calibri"/>
              </a:rPr>
              <a:t>Prochaines étapes proposées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424160" cy="1762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dirty="0">
                <a:solidFill>
                  <a:srgbClr val="714B67"/>
                </a:solidFill>
                <a:latin typeface="Calibri"/>
              </a:rPr>
              <a:t>●  1.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Valider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 le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périmètre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 —  confirmer avec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vous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les modules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prioritaires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(ex :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paie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locale,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congés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recrutement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dirty="0">
                <a:solidFill>
                  <a:srgbClr val="714B67"/>
                </a:solidFill>
                <a:latin typeface="Calibri"/>
              </a:rPr>
              <a:t>●  </a:t>
            </a:r>
            <a:r>
              <a:rPr lang="fr-FR" sz="1550" b="1" dirty="0">
                <a:solidFill>
                  <a:srgbClr val="714B67"/>
                </a:solidFill>
                <a:latin typeface="Calibri"/>
              </a:rPr>
              <a:t>2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.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Définir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 les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rôles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d'accès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 —  qui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voit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/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valide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quoi (RH, managers,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employés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dirty="0">
                <a:solidFill>
                  <a:srgbClr val="714B67"/>
                </a:solidFill>
                <a:latin typeface="Calibri"/>
              </a:rPr>
              <a:t>●  </a:t>
            </a:r>
            <a:r>
              <a:rPr lang="fr-FR" sz="1550" b="1" dirty="0">
                <a:solidFill>
                  <a:srgbClr val="714B67"/>
                </a:solidFill>
                <a:latin typeface="Calibri"/>
              </a:rPr>
              <a:t>3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. Charger des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données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réelles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 (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pilote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)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 —  un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échantillon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d'employés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pour test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conditions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réelles</a:t>
            </a:r>
            <a:endParaRPr sz="1550" b="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dirty="0">
                <a:solidFill>
                  <a:srgbClr val="714B67"/>
                </a:solidFill>
                <a:latin typeface="Calibri"/>
              </a:rPr>
              <a:t>●  5.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Planifier</a:t>
            </a:r>
            <a:r>
              <a:rPr sz="1550" b="1" dirty="0">
                <a:solidFill>
                  <a:srgbClr val="714B67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714B67"/>
                </a:solidFill>
                <a:latin typeface="Calibri"/>
              </a:rPr>
              <a:t>l'hébergement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 — 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environnement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de production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sécurisé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333333"/>
                </a:solidFill>
                <a:latin typeface="Calibri"/>
              </a:rPr>
              <a:t>si</a:t>
            </a:r>
            <a:r>
              <a:rPr sz="1550" b="0" dirty="0">
                <a:solidFill>
                  <a:srgbClr val="333333"/>
                </a:solidFill>
                <a:latin typeface="Calibri"/>
              </a:rPr>
              <a:t> validation du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14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7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E8D9E2"/>
                </a:solidFill>
                <a:latin typeface="Calibri"/>
              </a:rPr>
              <a:t>Vos retours orienteront le paramétrage final avant mise en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1296</Words>
  <Application>Microsoft Office PowerPoint</Application>
  <PresentationFormat>Grand écran</PresentationFormat>
  <Paragraphs>162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hafiz koné</cp:lastModifiedBy>
  <cp:revision>2</cp:revision>
  <dcterms:created xsi:type="dcterms:W3CDTF">2013-01-27T09:14:16Z</dcterms:created>
  <dcterms:modified xsi:type="dcterms:W3CDTF">2026-07-31T17:56:30Z</dcterms:modified>
  <cp:category/>
</cp:coreProperties>
</file>